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62D91"/>
                </a:solidFill>
                <a:latin typeface="Microsoft YaHei"/>
              </a:defRPr>
            </a:pPr>
            <a:r>
              <a:t>SO-101 Training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5AB4"/>
                </a:solidFill>
                <a:latin typeface="Microsoft YaHei"/>
              </a:defRPr>
            </a:pPr>
            <a:r>
              <a:t>&amp; Orchestrator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icrosoft YaHei"/>
              </a:defRPr>
            </a:pPr>
            <a:r>
              <a:t>Phang Hong Hao (潘洪浩)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icrosoft YaHei"/>
              </a:defRPr>
            </a:pPr>
            <a:r>
              <a:t>Tsinghua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  <a:latin typeface="Microsoft YaHei"/>
              </a:defRPr>
            </a:pPr>
            <a:r>
              <a:t>2026-05-13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Training Framework &amp; Speed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A6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2D91"/>
                </a:solidFill>
                <a:latin typeface="Microsoft YaHei"/>
              </a:defRPr>
            </a:pPr>
            <a:r>
              <a:t>Two Policies on RTX 6000D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2860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PushT Diffusion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005840"/>
            <a:ext cx="22860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02412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57200" y="1261872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80160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261872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9776" y="1280160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Diffusion (UNet)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17904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53619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Params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1517904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153619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263M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773936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179222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Batch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1773936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179222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029968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2048256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2029968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9776" y="2048256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100K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423160"/>
            <a:ext cx="22860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244144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SO-101 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2423160"/>
            <a:ext cx="22860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9776" y="244144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457200" y="2679192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2697480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679192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2697480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ACT (Transformer)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935224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295351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Params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2935224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79776" y="295351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84M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191256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320954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Batch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3191256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9776" y="320954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128 (max)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447288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3465576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Steps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3447288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79776" y="3465576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50K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2D91"/>
                </a:solidFill>
                <a:latin typeface="Microsoft YaHei"/>
              </a:defRPr>
            </a:pPr>
            <a:r>
              <a:t>torchcodec vs pyav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005840"/>
            <a:ext cx="27432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1024128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Config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1005840"/>
            <a:ext cx="146304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0576" y="102412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Speed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07040" y="1005840"/>
            <a:ext cx="109728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43616" y="1024128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Factor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1261872"/>
            <a:ext cx="27432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37376" y="1280160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PushT pyav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0" y="1261872"/>
            <a:ext cx="146304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0576" y="12801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0.5-0.7 step/s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07040" y="1261872"/>
            <a:ext cx="10972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43616" y="1280160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1x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1517904"/>
            <a:ext cx="27432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1536192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PushT torchcodec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1517904"/>
            <a:ext cx="146304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0576" y="153619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12-15 step/s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07040" y="1517904"/>
            <a:ext cx="10972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43616" y="1536192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20x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1773936"/>
            <a:ext cx="27432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1792224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ACT pyav 8w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44000" y="1773936"/>
            <a:ext cx="146304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80576" y="179222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0.38 step/s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07040" y="1773936"/>
            <a:ext cx="10972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643616" y="1792224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1x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2029968"/>
            <a:ext cx="27432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37376" y="2048256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ACT pyav 8w AMP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44000" y="2029968"/>
            <a:ext cx="146304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80576" y="204825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0.45 step/s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07040" y="2029968"/>
            <a:ext cx="10972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43616" y="2048256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1.2x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2286000"/>
            <a:ext cx="27432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37376" y="2304288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ACT torchcodec 8w AMP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44000" y="2286000"/>
            <a:ext cx="146304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80576" y="230428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1.9 step/s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607040" y="2286000"/>
            <a:ext cx="10972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643616" y="2304288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8.6x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0" y="3840480"/>
            <a:ext cx="5212080" cy="256032"/>
          </a:xfrm>
          <a:prstGeom prst="roundRect">
            <a:avLst/>
          </a:prstGeom>
          <a:solidFill>
            <a:srgbClr val="8C6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92240" y="3858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Key Finding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0" y="4096512"/>
            <a:ext cx="5212080" cy="521208"/>
          </a:xfrm>
          <a:prstGeom prst="round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4133088"/>
            <a:ext cx="5029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GPU 100%, 视频解码是真正瓶颈。torchcodec GPU 硬件加速 &gt;&gt; pyav CPU 逐帧解码。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78"/>
                </a:solidFill>
                <a:latin typeface="Microsoft YaHei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Optimal Configuration &amp; Known Bugs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A6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2D91"/>
                </a:solidFill>
                <a:latin typeface="Microsoft YaHei"/>
              </a:defRPr>
            </a:pPr>
            <a:r>
              <a:t>Launch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01168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Parameter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005840"/>
            <a:ext cx="22860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02412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61872"/>
            <a:ext cx="20116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80160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video_backend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261872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1280160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torchcodec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17904"/>
            <a:ext cx="20116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536192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policy.type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1517904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153619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773936"/>
            <a:ext cx="20116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179222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policy.device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1773936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5456" y="179222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cuda (not cuda:N!)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029968"/>
            <a:ext cx="20116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2048256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chunk_size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2029968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05456" y="2048256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286000"/>
            <a:ext cx="20116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2304288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dim_model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2286000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05456" y="230428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512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542032"/>
            <a:ext cx="20116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2560320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use_amp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2542032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05456" y="2560320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True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798064"/>
            <a:ext cx="20116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2816352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batch_size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2798064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05456" y="281635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128 (max)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054096"/>
            <a:ext cx="20116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307238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num_workers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8880" y="3054096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5456" y="307238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114800"/>
            <a:ext cx="4572000" cy="256032"/>
          </a:xfrm>
          <a:prstGeom prst="round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1330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Why batch_size=128 Max?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370832"/>
            <a:ext cx="4572000" cy="475488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407408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ACT chunk_size=100 O(n²), 128 batch → ~79GB VRAM (RTX 6000D limit)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85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2D91"/>
                </a:solidFill>
                <a:latin typeface="Microsoft YaHei"/>
              </a:defRPr>
            </a:pPr>
            <a:r>
              <a:t>Known Bugs &amp; Workarounds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005840"/>
            <a:ext cx="22860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102412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Bug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1005840"/>
            <a:ext cx="292608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23376" y="1024128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Fix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1261872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1280160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is_amp_available ValueError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1261872"/>
            <a:ext cx="29260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23376" y="1280160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CUDA_VISIBLE_DEVICES=6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1517904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7376" y="153619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torchcodec DecodingError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0" y="1517904"/>
            <a:ext cx="29260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23376" y="1536192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同上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1773936"/>
            <a:ext cx="2286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1792224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CXXABI_1.3.15 not found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0" y="1773936"/>
            <a:ext cx="292608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23376" y="1792224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LD_PRELOAD=.../libstdc++.so.6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2029968"/>
            <a:ext cx="2286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7376" y="2048256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libavutil.so.X not found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0" y="2029968"/>
            <a:ext cx="29260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23376" y="2048256"/>
            <a:ext cx="2852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conda install ffmpeg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78"/>
                </a:solidFill>
                <a:latin typeface="Microsoft YaHei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Orchestrator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A6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chestrato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85800"/>
            <a:ext cx="9418320" cy="40364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114800"/>
            <a:ext cx="5303520" cy="274320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133088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Core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5303520" cy="173736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443984"/>
            <a:ext cx="4974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• arm101_orchestrator.py — 主控 +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645152"/>
            <a:ext cx="4974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• phase_manager.py — YAML 三层合并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846320"/>
            <a:ext cx="4974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• state_store.py — 崩溃恢复 (原子 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47488"/>
            <a:ext cx="4974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• data_collector.py — MuJoCo 采集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03520" cy="274320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4133088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Key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5303520" cy="173736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443984"/>
            <a:ext cx="4974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• --fresh / --start-from &lt;id&gt; / --dry-run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645152"/>
            <a:ext cx="4974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• 崩溃恢复: 重连训练 PID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846320"/>
            <a:ext cx="4974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• Loss Monitor: CONVERGED / OVERFITTING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78"/>
                </a:solidFill>
                <a:latin typeface="Microsoft YaHei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Reference Models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A6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2D91"/>
                </a:solidFill>
                <a:latin typeface="Microsoft YaHei"/>
              </a:defRPr>
            </a:pPr>
            <a:r>
              <a:t>HuggingFace Models (Survey 100+)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4572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005840"/>
            <a:ext cx="4572000" cy="256032"/>
          </a:xfrm>
          <a:prstGeom prst="roundRect">
            <a:avLst/>
          </a:prstGeom>
          <a:solidFill>
            <a:srgbClr val="66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024128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Model / Key Info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61872"/>
            <a:ext cx="4572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8016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261872"/>
            <a:ext cx="4572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280160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Sa74ll/smolvla_so101 — SmolVLA, 87.66% 成功率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17904"/>
            <a:ext cx="4572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536192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517904"/>
            <a:ext cx="45720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1536192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TakuyaHiraoka/act_so101 — ACT, 真实机械臂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773936"/>
            <a:ext cx="4572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17922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1773936"/>
            <a:ext cx="4572000" cy="256032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179222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28"/>
                </a:solidFill>
                <a:latin typeface="Microsoft YaHei"/>
              </a:defRPr>
            </a:pPr>
            <a:r>
              <a:t>davidlinjiahao/lerobot_so101 — ACT, MuJoCo, 最相似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34640"/>
            <a:ext cx="5303520" cy="256032"/>
          </a:xfrm>
          <a:prstGeom prst="roundRect">
            <a:avLst/>
          </a:prstGeom>
          <a:solidFill>
            <a:srgbClr val="8C6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529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90672"/>
            <a:ext cx="5303520" cy="475488"/>
          </a:xfrm>
          <a:prstGeom prst="round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2724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28"/>
                </a:solidFill>
                <a:latin typeface="Microsoft YaHei"/>
              </a:defRPr>
            </a:pPr>
            <a:r>
              <a:t>scene.xml → MjModel → trajectory → render → LeRobotDataset → HF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85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2D91"/>
                </a:solidFill>
                <a:latin typeface="Microsoft YaHei"/>
              </a:defRPr>
            </a:pPr>
            <a:r>
              <a:t>Key Takeaways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0515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2828"/>
                </a:solidFill>
                <a:latin typeface="Microsoft YaHei"/>
              </a:defRPr>
            </a:pPr>
            <a:r>
              <a:t>1. ACT 是 SO-101 主流策略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280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Microsoft YaHei"/>
              </a:defRPr>
            </a:pPr>
            <a:r>
              <a:t>• HF 上 30+ ACT 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54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2828"/>
                </a:solidFill>
                <a:latin typeface="Microsoft YaHei"/>
              </a:defRPr>
            </a:pPr>
            <a:r>
              <a:t>2. SmolVLA 成功率更高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7830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Microsoft YaHei"/>
              </a:defRPr>
            </a:pPr>
            <a:r>
              <a:t>• Sa74ll 达 87.66%，靠数据分割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057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2828"/>
                </a:solidFill>
                <a:latin typeface="Microsoft YaHei"/>
              </a:defRPr>
            </a:pPr>
            <a:r>
              <a:t>3. 本项目与 davidlinjiahao 最相似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2860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Microsoft YaHei"/>
              </a:defRPr>
            </a:pPr>
            <a:r>
              <a:t>• 都是 MuJoCo + ACT + SO-101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560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2828"/>
                </a:solidFill>
                <a:latin typeface="Microsoft YaHei"/>
              </a:defRPr>
            </a:pPr>
            <a:r>
              <a:t>4. 视频解码是训练瓶颈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7889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Microsoft YaHei"/>
              </a:defRPr>
            </a:pPr>
            <a:r>
              <a:t>• torchcodec 比 pyav 快 8-20x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78"/>
                </a:solidFill>
                <a:latin typeface="Microsoft YaHei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